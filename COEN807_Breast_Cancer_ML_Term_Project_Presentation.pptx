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005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Machine Learning-Based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Breast Cancer Diagnosis Prediction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21792" y="23317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</a:rPr>
              <a:t>COEN807 Term Project - Supervised Learning Classification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21792" y="2743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</a:rPr>
              <a:t>Prepared by: Abubakar Ahmad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4069080"/>
            <a:ext cx="5349240" cy="713232"/>
          </a:xfrm>
          <a:prstGeom prst="roundRect">
            <a:avLst>
              <a:gd name="adj" fmla="val 10256"/>
            </a:avLst>
          </a:prstGeom>
          <a:solidFill>
            <a:srgbClr val="EAF4FB"/>
          </a:solidFill>
          <a:ln w="12700">
            <a:solidFill>
              <a:srgbClr val="B8DA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4178808"/>
            <a:ext cx="50200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</a:rPr>
              <a:t>End-to-end ML workflow: dataset → preprocessing → model comparison → evaluation → ethics</a:t>
            </a:r>
            <a:endParaRPr lang="en-US" sz="1350" dirty="0"/>
          </a:p>
        </p:txBody>
      </p:sp>
      <p:pic>
        <p:nvPicPr>
          <p:cNvPr id="7" name="Image 0" descr="/mnt/data/coen807_project/outputs/confus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9550" y="868680"/>
            <a:ext cx="3314700" cy="2651760"/>
          </a:xfrm>
          <a:prstGeom prst="rect">
            <a:avLst/>
          </a:prstGeom>
        </p:spPr>
      </p:pic>
      <p:pic>
        <p:nvPicPr>
          <p:cNvPr id="8" name="Image 1" descr="/mnt/data/coen807_project/outputs/roc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3767328"/>
            <a:ext cx="2971800" cy="23774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Overview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680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</a:rPr>
              <a:t>Why this classification task matters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5240">
            <a:solidFill>
              <a:srgbClr val="EAF4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17320"/>
            <a:ext cx="5577840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500" dirty="0">
                <a:solidFill>
                  <a:srgbClr val="111827"/>
                </a:solidFill>
              </a:rPr>
              <a:t>Breast cancer diagnosis requires early and reliable identification of malignant tumours.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Machine learning can support clinicians by finding patterns in diagnostic measurements.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The task is binary classification: malignant or benign.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The model should support clinical decisions, not replace medical professionals.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681728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EAF4FB"/>
          </a:solidFill>
          <a:ln w="12700">
            <a:solidFill>
              <a:srgbClr val="B8DA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4791456"/>
            <a:ext cx="5065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</a:rPr>
              <a:t>Main question: Can supervised ML accurately predict malignant cases from numerical diagnostic features?</a:t>
            </a:r>
            <a:endParaRPr lang="en-US" sz="1350" dirty="0"/>
          </a:p>
        </p:txBody>
      </p:sp>
      <p:pic>
        <p:nvPicPr>
          <p:cNvPr id="8" name="Image 0" descr="/mnt/data/coen807_project/outputs/feature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766751"/>
            <a:ext cx="4617720" cy="263869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Description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680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</a:rPr>
              <a:t>Breast Cancer Wisconsin Diagnostic dataset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5240">
            <a:solidFill>
              <a:srgbClr val="EAF4FB"/>
            </a:solidFill>
            <a:prstDash val="solid"/>
          </a:ln>
        </p:spPr>
      </p:sp>
      <p:pic>
        <p:nvPicPr>
          <p:cNvPr id="5" name="Image 0" descr="/mnt/data/coen807_project/outputs/class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325880"/>
            <a:ext cx="41148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7A57"/>
                </a:solidFill>
              </a:rPr>
              <a:t>569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309360" y="204825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Total records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822960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7A57"/>
                </a:solidFill>
              </a:rPr>
              <a:t>30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138160" y="204825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Input features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005840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7A57"/>
                </a:solidFill>
              </a:rPr>
              <a:t>212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9966960" y="204825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Malignant cases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7360920" y="2926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7A57"/>
                </a:solidFill>
              </a:rPr>
              <a:t>357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69480" y="332841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Benign cases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309360" y="4251960"/>
            <a:ext cx="493776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400" dirty="0">
                <a:solidFill>
                  <a:srgbClr val="111827"/>
                </a:solidFill>
              </a:rPr>
              <a:t>Numerical features are computed from digitised cell nuclei measurements.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</a:rPr>
              <a:t>Positive class in this project: malignant = 1.</a:t>
            </a:r>
            <a:endParaRPr lang="en-US" sz="1400" dirty="0"/>
          </a:p>
          <a:p>
            <a:r>
              <a:rPr lang="en-US" sz="1400" dirty="0">
                <a:solidFill>
                  <a:srgbClr val="111827"/>
                </a:solidFill>
              </a:rPr>
              <a:t>Dataset is public, labelled, and suitable for supervised classification.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Methodology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680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</a:rPr>
              <a:t>End-to-end supervised learning workflow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5240">
            <a:solidFill>
              <a:srgbClr val="EAF4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17320"/>
            <a:ext cx="548640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500" dirty="0">
                <a:solidFill>
                  <a:srgbClr val="111827"/>
                </a:solidFill>
              </a:rPr>
              <a:t>Load and inspect the public dataset.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Encode target class: malignant = 1, benign = 0.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Use stratified train-validation-test splitting.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Scale features for Logistic Regression, SVM, and KNN.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Train five supervised learning models and compare results.</a:t>
            </a:r>
            <a:endParaRPr lang="en-US" sz="1500" dirty="0"/>
          </a:p>
        </p:txBody>
      </p:sp>
      <p:pic>
        <p:nvPicPr>
          <p:cNvPr id="6" name="Image 0" descr="/mnt/data/coen807_project/outputs/top_featu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650492"/>
            <a:ext cx="4800600" cy="2743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4983480"/>
            <a:ext cx="9875520" cy="658368"/>
          </a:xfrm>
          <a:prstGeom prst="roundRect">
            <a:avLst>
              <a:gd name="adj" fmla="val 11111"/>
            </a:avLst>
          </a:prstGeom>
          <a:solidFill>
            <a:srgbClr val="EAF4FB"/>
          </a:solidFill>
          <a:ln w="12700">
            <a:solidFill>
              <a:srgbClr val="B8DA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78992" y="5093208"/>
            <a:ext cx="9546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</a:rPr>
              <a:t>Best model selected mainly by validation F1-score and malignant-case recall.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Models Implemented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680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</a:rPr>
              <a:t>Five algorithms compared fairly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5240">
            <a:solidFill>
              <a:srgbClr val="EAF4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539496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500" dirty="0">
                <a:solidFill>
                  <a:srgbClr val="111827"/>
                </a:solidFill>
              </a:rPr>
              <a:t>Logistic Regression - interpretable baseline.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Support Vector Machine - strong classifier for numerical feature spaces.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K-Nearest Neighbors - distance-based comparison model.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Decision Tree - simple rule-based model.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Random Forest - ensemble model for better stability.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507492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EAF4FB"/>
          </a:solidFill>
          <a:ln w="12700">
            <a:solidFill>
              <a:srgbClr val="B8DA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5184648"/>
            <a:ext cx="4928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</a:rPr>
              <a:t>Clinical focus: avoid missing malignant cases while keeping predictions reliable.</a:t>
            </a:r>
            <a:endParaRPr lang="en-US" sz="1350" dirty="0"/>
          </a:p>
        </p:txBody>
      </p:sp>
      <p:pic>
        <p:nvPicPr>
          <p:cNvPr id="8" name="Image 0" descr="/mnt/data/coen807_project/outputs/model_f1_sc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961674"/>
            <a:ext cx="4892040" cy="275177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Experimental Setup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680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</a:rPr>
              <a:t>Data split and evaluation approach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5240">
            <a:solidFill>
              <a:srgbClr val="EAF4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7A57"/>
                </a:solidFill>
              </a:rPr>
              <a:t>398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191109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Training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97180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7A57"/>
                </a:solidFill>
              </a:rPr>
              <a:t>85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880360" y="191109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Validation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80060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7A57"/>
                </a:solidFill>
              </a:rPr>
              <a:t>86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191109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B5563"/>
                </a:solidFill>
              </a:rPr>
              <a:t>Test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68680" y="2788920"/>
            <a:ext cx="5120640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450" dirty="0">
                <a:solidFill>
                  <a:srgbClr val="111827"/>
                </a:solidFill>
              </a:rPr>
              <a:t>Training set fitted the models.</a:t>
            </a:r>
            <a:endParaRPr lang="en-US" sz="1450" dirty="0"/>
          </a:p>
          <a:p>
            <a:r>
              <a:rPr lang="en-US" sz="1450" dirty="0">
                <a:solidFill>
                  <a:srgbClr val="111827"/>
                </a:solidFill>
              </a:rPr>
              <a:t>Validation set selected the best model.</a:t>
            </a:r>
            <a:endParaRPr lang="en-US" sz="1450" dirty="0"/>
          </a:p>
          <a:p>
            <a:r>
              <a:rPr lang="en-US" sz="1450" dirty="0">
                <a:solidFill>
                  <a:srgbClr val="111827"/>
                </a:solidFill>
              </a:rPr>
              <a:t>Test set was used only once for final reporting.</a:t>
            </a:r>
            <a:endParaRPr lang="en-US" sz="1450" dirty="0"/>
          </a:p>
          <a:p>
            <a:r>
              <a:rPr lang="en-US" sz="1450" dirty="0">
                <a:solidFill>
                  <a:srgbClr val="111827"/>
                </a:solidFill>
              </a:rPr>
              <a:t>Stratification preserved class proportions in each split.</a:t>
            </a:r>
            <a:endParaRPr lang="en-US" sz="1450" dirty="0"/>
          </a:p>
        </p:txBody>
      </p:sp>
      <p:pic>
        <p:nvPicPr>
          <p:cNvPr id="12" name="Image 0" descr="/mnt/data/coen807_project/outputs/class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7965" y="1325880"/>
            <a:ext cx="4400550" cy="35204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537960" y="5074920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EAF4FB"/>
          </a:solidFill>
          <a:ln w="12700">
            <a:solidFill>
              <a:srgbClr val="B8DAE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02552" y="5184648"/>
            <a:ext cx="4242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F75B5"/>
                </a:solidFill>
              </a:rPr>
              <a:t>This reduces the chance of selecting a model that only performs well by chance.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Metrics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680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</a:rPr>
              <a:t>Metrics chosen for a medical classification context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5240">
            <a:solidFill>
              <a:srgbClr val="EAF4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5394960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500" dirty="0">
                <a:solidFill>
                  <a:srgbClr val="111827"/>
                </a:solidFill>
              </a:rPr>
              <a:t>Accuracy: overall correctness.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Precision: how reliable malignant predictions are.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Recall: how many actual malignant cases are detected.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F1-score: balance between precision and recall.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ROC-AUC: separation ability across thresholds.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507492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EAF4FB"/>
          </a:solidFill>
          <a:ln w="12700">
            <a:solidFill>
              <a:srgbClr val="B8DA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5184648"/>
            <a:ext cx="4928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</a:rPr>
              <a:t>Recall is critical because a false negative can delay diagnosis and treatment.</a:t>
            </a:r>
            <a:endParaRPr lang="en-US" sz="1350" dirty="0"/>
          </a:p>
        </p:txBody>
      </p:sp>
      <p:pic>
        <p:nvPicPr>
          <p:cNvPr id="8" name="Image 0" descr="/mnt/data/coen807_project/outputs/confus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0" y="1280160"/>
            <a:ext cx="3886200" cy="31089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Comparison Results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680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</a:rPr>
              <a:t>Final test performance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5240">
            <a:solidFill>
              <a:srgbClr val="EAF4FB"/>
            </a:solidFill>
            <a:prstDash val="solid"/>
          </a:ln>
        </p:spPr>
      </p:sp>
      <p:pic>
        <p:nvPicPr>
          <p:cNvPr id="5" name="Image 0" descr="/mnt/data/coen807_project/outputs/model_comparison_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89876"/>
            <a:ext cx="5486400" cy="2460929"/>
          </a:xfrm>
          <a:prstGeom prst="rect">
            <a:avLst/>
          </a:prstGeom>
        </p:spPr>
      </p:pic>
      <p:pic>
        <p:nvPicPr>
          <p:cNvPr id="6" name="Image 1" descr="/mnt/data/coen807_project/outputs/model_f1_sco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58791"/>
            <a:ext cx="4800600" cy="270033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60120" y="5120640"/>
            <a:ext cx="9966960" cy="658368"/>
          </a:xfrm>
          <a:prstGeom prst="roundRect">
            <a:avLst>
              <a:gd name="adj" fmla="val 11111"/>
            </a:avLst>
          </a:prstGeom>
          <a:solidFill>
            <a:srgbClr val="EAF4FB"/>
          </a:solidFill>
          <a:ln w="12700">
            <a:solidFill>
              <a:srgbClr val="B8DA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24712" y="5230368"/>
            <a:ext cx="9637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</a:rPr>
              <a:t>SVM selected as best validation model; Logistic Regression remains a strong interpretable benchmark.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Best Model Evaluation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680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</a:rPr>
              <a:t>Support Vector Machine on unseen test data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5240">
            <a:solidFill>
              <a:srgbClr val="EAF4FB"/>
            </a:solidFill>
            <a:prstDash val="solid"/>
          </a:ln>
        </p:spPr>
      </p:sp>
      <p:pic>
        <p:nvPicPr>
          <p:cNvPr id="5" name="Image 0" descr="/mnt/data/coen807_project/outputs/confus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4572000" cy="3657600"/>
          </a:xfrm>
          <a:prstGeom prst="rect">
            <a:avLst/>
          </a:prstGeom>
        </p:spPr>
      </p:pic>
      <p:pic>
        <p:nvPicPr>
          <p:cNvPr id="6" name="Image 1" descr="/mnt/data/coen807_project/outputs/roc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820" y="1234440"/>
            <a:ext cx="4343400" cy="34747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97280" y="5257800"/>
            <a:ext cx="9601200" cy="658368"/>
          </a:xfrm>
          <a:prstGeom prst="roundRect">
            <a:avLst>
              <a:gd name="adj" fmla="val 11111"/>
            </a:avLst>
          </a:prstGeom>
          <a:solidFill>
            <a:srgbClr val="EAF4FB"/>
          </a:solidFill>
          <a:ln w="12700">
            <a:solidFill>
              <a:srgbClr val="B8DA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261872" y="5367528"/>
            <a:ext cx="9272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</a:rPr>
              <a:t>Test result: 31 of 32 malignant cases detected, with no benign case predicted as malignant.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Findings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680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</a:rPr>
              <a:t>What the experiment shows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5240">
            <a:solidFill>
              <a:srgbClr val="EAF4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89888"/>
            <a:ext cx="5669280" cy="3383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500" dirty="0">
                <a:solidFill>
                  <a:srgbClr val="111827"/>
                </a:solidFill>
              </a:rPr>
              <a:t>SVM, Logistic Regression, and Random Forest all performed strongly.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Decision Tree had lower recall, showing the risk of overly simple rules.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Scaling helped distance-based and margin-based models.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High scores do not remove the need for clinical validation.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Model usefulness depends on both performance and explainability.</a:t>
            </a:r>
            <a:endParaRPr lang="en-US" sz="1500" dirty="0"/>
          </a:p>
        </p:txBody>
      </p:sp>
      <p:pic>
        <p:nvPicPr>
          <p:cNvPr id="6" name="Image 0" descr="/mnt/data/coen807_project/outputs/top_featu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86415"/>
            <a:ext cx="4754880" cy="27170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Limitations and Ethical Issues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680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</a:rPr>
              <a:t>Responsible use in healthcare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5240">
            <a:solidFill>
              <a:srgbClr val="EAF4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53312"/>
            <a:ext cx="5577840" cy="3520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500" dirty="0">
                <a:solidFill>
                  <a:srgbClr val="111827"/>
                </a:solidFill>
              </a:rPr>
              <a:t>Dataset is small and may not represent Nigerian hospital populations.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Real hospital data may contain missing values, noise, and different patient profiles.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False negatives are dangerous because malignant cases may be missed.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False positives can cause fear and unnecessary medical costs.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The system should be used only as clinical decision support.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629400" y="1874520"/>
            <a:ext cx="4297680" cy="1097280"/>
          </a:xfrm>
          <a:prstGeom prst="roundRect">
            <a:avLst>
              <a:gd name="adj" fmla="val 6667"/>
            </a:avLst>
          </a:prstGeom>
          <a:solidFill>
            <a:srgbClr val="EAF4FB"/>
          </a:solidFill>
          <a:ln w="12700">
            <a:solidFill>
              <a:srgbClr val="B8DA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3992" y="1984248"/>
            <a:ext cx="39684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</a:rPr>
              <a:t>Before deployment: external validation, doctor review, fairness audit, and continuous monitoring.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629400" y="397764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EAF4FB"/>
          </a:solidFill>
          <a:ln w="12700">
            <a:solidFill>
              <a:srgbClr val="B8DA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93992" y="4087368"/>
            <a:ext cx="39684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237A57"/>
                </a:solidFill>
              </a:rPr>
              <a:t>Machine learning must support care - not replace professional medical judgement.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 and Future Work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21208" y="76809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</a:rPr>
              <a:t>Final recommendation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11155680" cy="0"/>
          </a:xfrm>
          <a:prstGeom prst="line">
            <a:avLst/>
          </a:prstGeom>
          <a:noFill/>
          <a:ln w="15240">
            <a:solidFill>
              <a:srgbClr val="EAF4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6035040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r>
              <a:rPr lang="en-US" sz="1500" dirty="0">
                <a:solidFill>
                  <a:srgbClr val="111827"/>
                </a:solidFill>
              </a:rPr>
              <a:t>The project completed an end-to-end supervised ML workflow.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SVM was the selected best model with strong test performance.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Logistic Regression is useful as an interpretable clinical benchmark.</a:t>
            </a:r>
            <a:endParaRPr lang="en-US" sz="1500" dirty="0"/>
          </a:p>
          <a:p>
            <a:r>
              <a:rPr lang="en-US" sz="1500" dirty="0">
                <a:solidFill>
                  <a:srgbClr val="111827"/>
                </a:solidFill>
              </a:rPr>
              <a:t>Future work: larger African clinical datasets, explainable AI, and secure clinical dashboard deployment.</a:t>
            </a:r>
            <a:endParaRPr lang="en-US" sz="1500" dirty="0"/>
          </a:p>
        </p:txBody>
      </p:sp>
      <p:pic>
        <p:nvPicPr>
          <p:cNvPr id="6" name="Image 0" descr="/mnt/data/coen807_project/outputs/roc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234440"/>
            <a:ext cx="3200400" cy="2560320"/>
          </a:xfrm>
          <a:prstGeom prst="rect">
            <a:avLst/>
          </a:prstGeom>
        </p:spPr>
      </p:pic>
      <p:pic>
        <p:nvPicPr>
          <p:cNvPr id="7" name="Image 1" descr="/mnt/data/coen807_project/outputs/confusion_matri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4023360"/>
            <a:ext cx="2400300" cy="1920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68680" y="5212080"/>
            <a:ext cx="5852160" cy="658368"/>
          </a:xfrm>
          <a:prstGeom prst="roundRect">
            <a:avLst>
              <a:gd name="adj" fmla="val 11111"/>
            </a:avLst>
          </a:prstGeom>
          <a:solidFill>
            <a:srgbClr val="EAF4FB"/>
          </a:solidFill>
          <a:ln w="12700">
            <a:solidFill>
              <a:srgbClr val="B8DAE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033272" y="5321808"/>
            <a:ext cx="5522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</a:rPr>
              <a:t>Recommended use: decision-support tool after clinical validation.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287000" y="65105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COEN807 Term Project | 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COEN807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Learning-Based Breast Cancer Diagnosis Prediction</dc:title>
  <dc:subject>COEN807 Term Project</dc:subject>
  <dc:creator>Abubakar Ahmad</dc:creator>
  <cp:lastModifiedBy>Abubakar Ahmad</cp:lastModifiedBy>
  <cp:revision>1</cp:revision>
  <dcterms:created xsi:type="dcterms:W3CDTF">2026-06-13T23:56:30Z</dcterms:created>
  <dcterms:modified xsi:type="dcterms:W3CDTF">2026-06-13T23:56:30Z</dcterms:modified>
</cp:coreProperties>
</file>